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Arial Black" panose="020B0A04020102020204" pitchFamily="34" charset="0"/>
      <p:bold r:id="rId14"/>
    </p:embeddedFont>
    <p:embeddedFont>
      <p:font typeface="Bricolage Grotesque Light" panose="020B0604020202020204" charset="0"/>
      <p:regular r:id="rId15"/>
    </p:embeddedFont>
    <p:embeddedFont>
      <p:font typeface="Bricolage Grotesque SemiBold" panose="020B0604020202020204" charset="0"/>
      <p:regular r:id="rId16"/>
    </p:embeddedFon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EFD"/>
    <a:srgbClr val="F7ECD1"/>
    <a:srgbClr val="FDFDFD"/>
    <a:srgbClr val="F9F7F5"/>
    <a:srgbClr val="FEFEFE"/>
    <a:srgbClr val="FBF9F7"/>
    <a:srgbClr val="FCF9F6"/>
    <a:srgbClr val="FFFFFD"/>
    <a:srgbClr val="FBF3DB"/>
    <a:srgbClr val="001A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622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4DB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8523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SmartRisk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540818"/>
            <a:ext cx="4722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AI-Powered Insider Threat Detection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3925119" y="2976190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machine learning-based cybersecurity system that detects potential insider threats by analyzing employee behavior patterns in real time — using a Random Forest Classifier and an interactive Streamlit dashboard.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4042916"/>
            <a:ext cx="651123" cy="215354"/>
          </a:xfrm>
          <a:prstGeom prst="roundRect">
            <a:avLst>
              <a:gd name="adj" fmla="val 22119"/>
            </a:avLst>
          </a:prstGeom>
          <a:solidFill>
            <a:srgbClr val="FAA1A1"/>
          </a:solidFill>
          <a:ln/>
        </p:spPr>
      </p:sp>
      <p:sp>
        <p:nvSpPr>
          <p:cNvPr id="7" name="Text 4"/>
          <p:cNvSpPr/>
          <p:nvPr/>
        </p:nvSpPr>
        <p:spPr>
          <a:xfrm>
            <a:off x="4010174" y="4085406"/>
            <a:ext cx="93821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647084" y="4042916"/>
            <a:ext cx="948333" cy="215354"/>
          </a:xfrm>
          <a:prstGeom prst="roundRect">
            <a:avLst>
              <a:gd name="adj" fmla="val 22119"/>
            </a:avLst>
          </a:prstGeom>
          <a:solidFill>
            <a:srgbClr val="FAA1A1"/>
          </a:solidFill>
          <a:ln/>
        </p:spPr>
      </p:sp>
      <p:sp>
        <p:nvSpPr>
          <p:cNvPr id="9" name="Text 6"/>
          <p:cNvSpPr/>
          <p:nvPr/>
        </p:nvSpPr>
        <p:spPr>
          <a:xfrm>
            <a:off x="4732139" y="4085406"/>
            <a:ext cx="123542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SCIKIT-LEARN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666259" y="4042916"/>
            <a:ext cx="626566" cy="215354"/>
          </a:xfrm>
          <a:prstGeom prst="roundRect">
            <a:avLst>
              <a:gd name="adj" fmla="val 22119"/>
            </a:avLst>
          </a:prstGeom>
          <a:solidFill>
            <a:srgbClr val="FAA1A1"/>
          </a:solidFill>
          <a:ln/>
        </p:spPr>
      </p:sp>
      <p:sp>
        <p:nvSpPr>
          <p:cNvPr id="11" name="Text 8"/>
          <p:cNvSpPr/>
          <p:nvPr/>
        </p:nvSpPr>
        <p:spPr>
          <a:xfrm>
            <a:off x="5751314" y="4085406"/>
            <a:ext cx="91365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363667" y="4042916"/>
            <a:ext cx="804788" cy="215354"/>
          </a:xfrm>
          <a:prstGeom prst="roundRect">
            <a:avLst>
              <a:gd name="adj" fmla="val 22119"/>
            </a:avLst>
          </a:prstGeom>
          <a:solidFill>
            <a:srgbClr val="FAA1A1"/>
          </a:solidFill>
          <a:ln/>
        </p:spPr>
      </p:sp>
      <p:sp>
        <p:nvSpPr>
          <p:cNvPr id="13" name="Text 10"/>
          <p:cNvSpPr/>
          <p:nvPr/>
        </p:nvSpPr>
        <p:spPr>
          <a:xfrm>
            <a:off x="6448723" y="4085406"/>
            <a:ext cx="109187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</a:t>
            </a:r>
            <a:endParaRPr lang="en-US" sz="8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BDA356-3D77-7BD2-0A6A-5DA933886390}"/>
              </a:ext>
            </a:extLst>
          </p:cNvPr>
          <p:cNvSpPr/>
          <p:nvPr/>
        </p:nvSpPr>
        <p:spPr>
          <a:xfrm>
            <a:off x="7695028" y="4656406"/>
            <a:ext cx="1448972" cy="487094"/>
          </a:xfrm>
          <a:prstGeom prst="rect">
            <a:avLst/>
          </a:prstGeom>
          <a:solidFill>
            <a:srgbClr val="F7EC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40234"/>
            <a:ext cx="4722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The Insider Threat Problem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3925119" y="977950"/>
            <a:ext cx="4722763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Organizations face growing risks from employees, contractors, and trusted users. Traditional security tools focus on external attacks — and consistently fail to detect suspicious internal behavior early enough to prevent incidents.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1639267"/>
            <a:ext cx="4722763" cy="687512"/>
          </a:xfrm>
          <a:prstGeom prst="roundRect">
            <a:avLst>
              <a:gd name="adj" fmla="val 7443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51697" y="1765846"/>
            <a:ext cx="446960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🔓</a:t>
            </a: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Unauthorized Access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051697" y="2019002"/>
            <a:ext cx="44696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Unapproved file access and system entry outside normal permissions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925119" y="2431405"/>
            <a:ext cx="4722763" cy="687512"/>
          </a:xfrm>
          <a:prstGeom prst="roundRect">
            <a:avLst>
              <a:gd name="adj" fmla="val 7443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51697" y="2557983"/>
            <a:ext cx="446960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🔑</a:t>
            </a: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Failed Logins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051697" y="2811140"/>
            <a:ext cx="44696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Excessive failed login attempts signaling credential abuse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925119" y="3223543"/>
            <a:ext cx="4722763" cy="687512"/>
          </a:xfrm>
          <a:prstGeom prst="roundRect">
            <a:avLst>
              <a:gd name="adj" fmla="val 7443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51697" y="3350121"/>
            <a:ext cx="446960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💾</a:t>
            </a: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USB Misuse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051697" y="3603278"/>
            <a:ext cx="44696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Unauthorized external device usage and data exfiltration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925119" y="4015680"/>
            <a:ext cx="4722763" cy="687512"/>
          </a:xfrm>
          <a:prstGeom prst="roundRect">
            <a:avLst>
              <a:gd name="adj" fmla="val 7443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51697" y="4142259"/>
            <a:ext cx="446960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🌙</a:t>
            </a: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After-Hours Activity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051697" y="4395415"/>
            <a:ext cx="44696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Unusual downloads and system access outside working hours</a:t>
            </a:r>
            <a:endParaRPr lang="en-US" sz="9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0F9998-FFA9-543C-0809-047DDAD2D83F}"/>
              </a:ext>
            </a:extLst>
          </p:cNvPr>
          <p:cNvSpPr/>
          <p:nvPr/>
        </p:nvSpPr>
        <p:spPr>
          <a:xfrm>
            <a:off x="7744264" y="4762798"/>
            <a:ext cx="1399735" cy="380702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719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Project Objectives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7369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SmartRisk is designed to give security teams the intelligence they need — before an incident becomes a breach.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85997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081882"/>
            <a:ext cx="4004965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190824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Detect Suspicious Activity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497336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machine learning to employee behavior data for accurate threat identification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42842" y="185997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2842" y="2081882"/>
            <a:ext cx="4005039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10" name="Text 8"/>
          <p:cNvSpPr/>
          <p:nvPr/>
        </p:nvSpPr>
        <p:spPr>
          <a:xfrm>
            <a:off x="4642842" y="2190824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Generate Real-Time Risk Scores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42842" y="2497336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 a quantified risk probability to every user session or record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319898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3406750"/>
            <a:ext cx="4004965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529831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Support Bulk Analysis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6119" y="3836343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CSV datasets to analyze multiple user records simultaneously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42842" y="319898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2842" y="3406750"/>
            <a:ext cx="4005039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18" name="Text 16"/>
          <p:cNvSpPr/>
          <p:nvPr/>
        </p:nvSpPr>
        <p:spPr>
          <a:xfrm>
            <a:off x="4642842" y="3529831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Visualize &amp; Report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42842" y="3836343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feature importance and provide downloadable prediction reports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0CE7D2-4639-A21A-1E28-EF616AC21BA3}"/>
              </a:ext>
            </a:extLst>
          </p:cNvPr>
          <p:cNvSpPr/>
          <p:nvPr/>
        </p:nvSpPr>
        <p:spPr>
          <a:xfrm>
            <a:off x="7695028" y="4656406"/>
            <a:ext cx="1448972" cy="487094"/>
          </a:xfrm>
          <a:prstGeom prst="rect">
            <a:avLst/>
          </a:prstGeom>
          <a:solidFill>
            <a:srgbClr val="F9F7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8407" y="587078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2C2926"/>
                </a:solidFill>
                <a:latin typeface="Bricolage Grotesque SemiBold" panose="020B0604020202020204" charset="0"/>
                <a:ea typeface="Bricolage Grotesque SemiBold" pitchFamily="34" charset="-122"/>
                <a:cs typeface="Bricolage Grotesque SemiBold" pitchFamily="34" charset="-120"/>
              </a:rPr>
              <a:t>System </a:t>
            </a:r>
            <a:r>
              <a:rPr lang="en-US" sz="1350" dirty="0">
                <a:solidFill>
                  <a:srgbClr val="2C2926"/>
                </a:solidFill>
                <a:latin typeface="Bricolage Grotesque SemiBold" panose="020B0604020202020204" charset="0"/>
                <a:ea typeface="Bricolage Grotesque SemiBold" pitchFamily="34" charset="-122"/>
                <a:cs typeface="Bricolage Grotesque SemiBold" pitchFamily="34" charset="-120"/>
              </a:rPr>
              <a:t> </a:t>
            </a:r>
            <a:r>
              <a:rPr lang="en-US" sz="3200" dirty="0">
                <a:solidFill>
                  <a:srgbClr val="2C2926"/>
                </a:solidFill>
                <a:latin typeface="Bricolage Grotesque SemiBold" panose="020B0604020202020204" charset="0"/>
                <a:ea typeface="Bricolage Grotesque SemiBold" pitchFamily="34" charset="-122"/>
                <a:cs typeface="Bricolage Grotesque SemiBold" pitchFamily="34" charset="-120"/>
              </a:rPr>
              <a:t>Architecture</a:t>
            </a:r>
            <a:endParaRPr lang="en-US" sz="3200" dirty="0">
              <a:latin typeface="Bricolage Grotesque SemiBold" panose="020B06040202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5751" y="1392324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2C292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SmartRisk processes raw employee activity data through a structured ML pipeline — from ingestion to a real-time risk verdict displayed on the dashboard.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2759" y="0"/>
            <a:ext cx="3989412" cy="398941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701" y="3330101"/>
            <a:ext cx="2011338" cy="2714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5536" y="3420984"/>
            <a:ext cx="18125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Login Time &amp; Failed Attempts</a:t>
            </a:r>
            <a:endParaRPr lang="en-US" sz="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0588" y="3335359"/>
            <a:ext cx="2011412" cy="2714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741710" y="3420984"/>
            <a:ext cx="18125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USB Usage &amp; File Access</a:t>
            </a:r>
            <a:endParaRPr lang="en-US" sz="6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7905" y="3335359"/>
            <a:ext cx="2011338" cy="27146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103956" y="3431838"/>
            <a:ext cx="18125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Email Activity &amp; Downloads</a:t>
            </a:r>
            <a:endParaRPr lang="en-US" sz="6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5876" y="3340617"/>
            <a:ext cx="2011412" cy="27146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214710" y="3420984"/>
            <a:ext cx="18125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After-Hours Access Patterns</a:t>
            </a:r>
            <a:endParaRPr lang="en-US" sz="6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B8EA17-9FAD-C8AE-2502-BC0A5373CBF4}"/>
              </a:ext>
            </a:extLst>
          </p:cNvPr>
          <p:cNvSpPr/>
          <p:nvPr/>
        </p:nvSpPr>
        <p:spPr>
          <a:xfrm>
            <a:off x="7821636" y="4753644"/>
            <a:ext cx="1322363" cy="389855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518071"/>
            <a:ext cx="5196483" cy="294463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89216" y="1113755"/>
            <a:ext cx="1462683" cy="181719"/>
          </a:xfrm>
          <a:prstGeom prst="roundRect">
            <a:avLst>
              <a:gd name="adj" fmla="val 22117"/>
            </a:avLst>
          </a:prstGeom>
          <a:solidFill>
            <a:srgbClr val="F8ECD3"/>
          </a:solidFill>
          <a:ln/>
        </p:spPr>
      </p:sp>
      <p:sp>
        <p:nvSpPr>
          <p:cNvPr id="4" name="Text 1"/>
          <p:cNvSpPr/>
          <p:nvPr/>
        </p:nvSpPr>
        <p:spPr>
          <a:xfrm>
            <a:off x="6060951" y="1149623"/>
            <a:ext cx="1776413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MODEL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989216" y="1335807"/>
            <a:ext cx="2663354" cy="747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Random Forest Classifier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5989216" y="2184276"/>
            <a:ext cx="2663354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SmartRisk uses an ensemble learning algorithm that combines multiple decision trees to deliver robust, accurate predictions — even on complex, noisy behavioral data.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916" y="3693319"/>
            <a:ext cx="179412" cy="1794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4783" y="3689672"/>
            <a:ext cx="362411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High Accuracy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884783" y="3937025"/>
            <a:ext cx="362411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Ensemble voting reduces individual tree errors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9826" y="3693319"/>
            <a:ext cx="179412" cy="1794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23693" y="3689672"/>
            <a:ext cx="362418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Handles Complex Data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5023693" y="3937025"/>
            <a:ext cx="362418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well with mixed categorical and numerical features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916" y="4318843"/>
            <a:ext cx="179412" cy="1794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84783" y="4315197"/>
            <a:ext cx="362411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Reduces Overfitting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884783" y="4562549"/>
            <a:ext cx="362411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feature selection improves generalization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9826" y="4318843"/>
            <a:ext cx="179412" cy="17941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23693" y="4315197"/>
            <a:ext cx="362418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Fast Prediction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5023693" y="4562549"/>
            <a:ext cx="362418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Low-latency inference suitable for real-time dashboards</a:t>
            </a:r>
            <a:endParaRPr lang="en-US" sz="9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82075E-7F49-95EF-714D-DB5180F7AE27}"/>
              </a:ext>
            </a:extLst>
          </p:cNvPr>
          <p:cNvSpPr/>
          <p:nvPr/>
        </p:nvSpPr>
        <p:spPr>
          <a:xfrm>
            <a:off x="7837364" y="4799408"/>
            <a:ext cx="1306636" cy="344092"/>
          </a:xfrm>
          <a:prstGeom prst="rect">
            <a:avLst/>
          </a:prstGeom>
          <a:solidFill>
            <a:srgbClr val="FBF9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694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Key Features of SmartRisk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96119" y="1025723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2697" y="1152302"/>
            <a:ext cx="365447" cy="365447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156" y="1252761"/>
            <a:ext cx="164455" cy="1644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697" y="1622375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Real-Time Prediction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22697" y="1875532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classification of user activity as Normal or Suspicious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24313" y="1025723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0891" y="1152302"/>
            <a:ext cx="365447" cy="365447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1350" y="1252761"/>
            <a:ext cx="164455" cy="1644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0891" y="1622375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Bulk CSV Upload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750891" y="1875532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hundreds of user records in a single operation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96119" y="2287935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2697" y="2414513"/>
            <a:ext cx="365447" cy="365447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156" y="2514972"/>
            <a:ext cx="164455" cy="16445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2697" y="2884587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Risk Score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22697" y="3137743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Quantified probability score (0–100%) for every prediction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624313" y="2287935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50891" y="2414513"/>
            <a:ext cx="365447" cy="365447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1350" y="2514972"/>
            <a:ext cx="164455" cy="16445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50891" y="2884587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Feature Importance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750891" y="3137743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breakdown of which factors drove each decision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96119" y="3550146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22697" y="3676724"/>
            <a:ext cx="365447" cy="365447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3156" y="3777183"/>
            <a:ext cx="164455" cy="16445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2697" y="4146798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Report Download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622697" y="4399955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prediction results for audit trails and compliance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4624313" y="3550146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750891" y="3676724"/>
            <a:ext cx="365447" cy="365447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51350" y="3777183"/>
            <a:ext cx="164455" cy="16445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750891" y="4146798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Interactive Dashboard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4750891" y="4399955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Streamlit-powered UI for analysts and security teams</a:t>
            </a:r>
            <a:endParaRPr lang="en-US" sz="9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00639AA-BD37-8CEB-CEAD-4B844ED67F27}"/>
              </a:ext>
            </a:extLst>
          </p:cNvPr>
          <p:cNvSpPr/>
          <p:nvPr/>
        </p:nvSpPr>
        <p:spPr>
          <a:xfrm>
            <a:off x="7906042" y="4812356"/>
            <a:ext cx="1237957" cy="331143"/>
          </a:xfrm>
          <a:prstGeom prst="rect">
            <a:avLst/>
          </a:prstGeom>
          <a:solidFill>
            <a:srgbClr val="FCF9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6318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Technology Stack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06165"/>
            <a:ext cx="860896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SmartRisk is built on a mature, open-source Python ecosystem — ensuring reproducibility, scalability, and ease of deployment.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462162"/>
            <a:ext cx="8151763" cy="3254946"/>
          </a:xfrm>
          <a:prstGeom prst="roundRect">
            <a:avLst>
              <a:gd name="adj" fmla="val 174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1844427"/>
            <a:ext cx="8151763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224311"/>
            <a:ext cx="8151763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815307"/>
            <a:ext cx="8151763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195191"/>
            <a:ext cx="8151763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575075"/>
            <a:ext cx="8151763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6119" y="3954959"/>
            <a:ext cx="8151763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96119" y="4334842"/>
            <a:ext cx="8151763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36017" y="1548929"/>
            <a:ext cx="222259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71539" y="1548929"/>
            <a:ext cx="303683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21300" y="1548929"/>
            <a:ext cx="344395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Contribution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6017" y="1928813"/>
            <a:ext cx="222259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71539" y="1928813"/>
            <a:ext cx="303683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Development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21300" y="1928813"/>
            <a:ext cx="344395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application logic and ML pipeline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6017" y="2308696"/>
            <a:ext cx="222259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71539" y="2308696"/>
            <a:ext cx="303683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Processing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21300" y="2308696"/>
            <a:ext cx="298675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cleaning, transformation, and CSV ingestion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6017" y="2899693"/>
            <a:ext cx="222259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NumPy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71539" y="2899693"/>
            <a:ext cx="303683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Numerical Computation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21300" y="2899693"/>
            <a:ext cx="344395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array operations for model input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6017" y="3279577"/>
            <a:ext cx="222259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Scikit-learn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71539" y="3279577"/>
            <a:ext cx="303683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21300" y="3279577"/>
            <a:ext cx="344395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model training and inference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6017" y="3659460"/>
            <a:ext cx="222259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671539" y="3659460"/>
            <a:ext cx="303683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Application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521300" y="3659460"/>
            <a:ext cx="344395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dashboard and user interface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6017" y="4039344"/>
            <a:ext cx="222259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Matplotlib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671539" y="4039344"/>
            <a:ext cx="303683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521300" y="4039344"/>
            <a:ext cx="344395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importance charts and graphs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6017" y="4419228"/>
            <a:ext cx="222259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Joblib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671539" y="4419228"/>
            <a:ext cx="303683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Storage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521300" y="4419228"/>
            <a:ext cx="344395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model serialization for deployment</a:t>
            </a:r>
            <a:endParaRPr lang="en-US" sz="10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42F98C-CB58-8BF8-7065-67C00CC05D08}"/>
              </a:ext>
            </a:extLst>
          </p:cNvPr>
          <p:cNvSpPr/>
          <p:nvPr/>
        </p:nvSpPr>
        <p:spPr>
          <a:xfrm>
            <a:off x="7856806" y="4801492"/>
            <a:ext cx="1287194" cy="342007"/>
          </a:xfrm>
          <a:prstGeom prst="rect">
            <a:avLst/>
          </a:prstGeom>
          <a:solidFill>
            <a:srgbClr val="FFFF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7863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Prediction Results in Action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50206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Sample Input Record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96119" y="1358280"/>
            <a:ext cx="1911325" cy="748382"/>
          </a:xfrm>
          <a:prstGeom prst="roundRect">
            <a:avLst>
              <a:gd name="adj" fmla="val 6837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F8EC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2222" y="1494383"/>
            <a:ext cx="1639119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Login Time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32222" y="1789361"/>
            <a:ext cx="163911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 Night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12070" y="1358280"/>
            <a:ext cx="1911325" cy="748382"/>
          </a:xfrm>
          <a:prstGeom prst="roundRect">
            <a:avLst>
              <a:gd name="adj" fmla="val 6837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F8EC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48173" y="1494383"/>
            <a:ext cx="1639119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Failed Logins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48173" y="1789361"/>
            <a:ext cx="163911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attempts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6119" y="2211288"/>
            <a:ext cx="1911325" cy="748382"/>
          </a:xfrm>
          <a:prstGeom prst="roundRect">
            <a:avLst>
              <a:gd name="adj" fmla="val 6837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F8EC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222" y="2347392"/>
            <a:ext cx="1639119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USB Usage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2222" y="2642369"/>
            <a:ext cx="163911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12070" y="2211288"/>
            <a:ext cx="1911325" cy="748382"/>
          </a:xfrm>
          <a:prstGeom prst="roundRect">
            <a:avLst>
              <a:gd name="adj" fmla="val 6837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F8EC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48173" y="2347392"/>
            <a:ext cx="1639119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Downloads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48173" y="2642369"/>
            <a:ext cx="163911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volume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6119" y="3064297"/>
            <a:ext cx="3927277" cy="748382"/>
          </a:xfrm>
          <a:prstGeom prst="roundRect">
            <a:avLst>
              <a:gd name="adj" fmla="val 6837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F8EC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222" y="3200400"/>
            <a:ext cx="3655070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After-Hours Access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2222" y="3495377"/>
            <a:ext cx="365507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25367" y="1050206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Model Output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25367" y="1345183"/>
            <a:ext cx="3927277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dashboard delivers instant verdicts, supports CSV batch analysis, displays feature importance charts, and allows analysts to download full prediction reports for audit purposes.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6119" y="4048125"/>
            <a:ext cx="8151763" cy="687512"/>
          </a:xfrm>
          <a:prstGeom prst="roundRect">
            <a:avLst>
              <a:gd name="adj" fmla="val 7443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0881" y="4052887"/>
            <a:ext cx="4071119" cy="67798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22697" y="4174703"/>
            <a:ext cx="382748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Prediction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2697" y="4427860"/>
            <a:ext cx="382748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Suspicious Activity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4052887"/>
            <a:ext cx="4071119" cy="67798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0" y="4052887"/>
            <a:ext cx="14288" cy="677987"/>
          </a:xfrm>
          <a:prstGeom prst="roundRect">
            <a:avLst>
              <a:gd name="adj" fmla="val 358127"/>
            </a:avLst>
          </a:prstGeom>
          <a:solidFill>
            <a:srgbClr val="F8ECD3"/>
          </a:solidFill>
          <a:ln/>
        </p:spPr>
      </p:sp>
      <p:sp>
        <p:nvSpPr>
          <p:cNvPr id="27" name="Text 25"/>
          <p:cNvSpPr/>
          <p:nvPr/>
        </p:nvSpPr>
        <p:spPr>
          <a:xfrm>
            <a:off x="4693816" y="4174703"/>
            <a:ext cx="382748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Risk Score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93816" y="4427860"/>
            <a:ext cx="382748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92%</a:t>
            </a: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probability</a:t>
            </a:r>
            <a:endParaRPr lang="en-US" sz="9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D8ADE4-2421-3A07-7401-B2D86E6E5687}"/>
              </a:ext>
            </a:extLst>
          </p:cNvPr>
          <p:cNvSpPr/>
          <p:nvPr/>
        </p:nvSpPr>
        <p:spPr>
          <a:xfrm>
            <a:off x="7849772" y="4852690"/>
            <a:ext cx="1294228" cy="29081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Advantages &amp; Applications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04255"/>
            <a:ext cx="3989412" cy="3989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94101" y="735062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Where SmartRisk Applies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94101" y="957782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Insider threat risk is universal — SmartRisk is designed for any organization with sensitive data and trusted user access.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9377" y="1427784"/>
            <a:ext cx="106263" cy="1062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47232" y="1427784"/>
            <a:ext cx="391202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Banking &amp; Finance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647232" y="1594508"/>
            <a:ext cx="391202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customer data and prevent internal fraud</a:t>
            </a:r>
            <a:endParaRPr lang="en-US" sz="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88661" y="1403510"/>
            <a:ext cx="106263" cy="1062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50288" y="1417812"/>
            <a:ext cx="391209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Government &amp; Defense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6950288" y="1571381"/>
            <a:ext cx="391209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classified systems and monitor contractor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</a:t>
            </a:r>
            <a:endParaRPr lang="en-US" sz="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13250" y="1944366"/>
            <a:ext cx="106263" cy="1062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71491" y="1955180"/>
            <a:ext cx="391202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Healthcare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4647232" y="2099925"/>
            <a:ext cx="391202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Safeguard patient records and comply with HIPAA</a:t>
            </a:r>
            <a:endParaRPr lang="en-US" sz="7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44025" y="1939091"/>
            <a:ext cx="106263" cy="10626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29911" y="1948902"/>
            <a:ext cx="391209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Education &amp; Enterprise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7029911" y="2133942"/>
            <a:ext cx="391209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shared infrastructure across large user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bases</a:t>
            </a:r>
            <a:endParaRPr lang="en-US" sz="7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BD8F24-E18E-7300-387A-51896CC06954}"/>
              </a:ext>
            </a:extLst>
          </p:cNvPr>
          <p:cNvSpPr/>
          <p:nvPr/>
        </p:nvSpPr>
        <p:spPr>
          <a:xfrm>
            <a:off x="7695028" y="4656406"/>
            <a:ext cx="1448972" cy="487094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6462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Conclusion &amp; Future Scope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148804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What SmartRisk Delivers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96119" y="1443782"/>
            <a:ext cx="3927277" cy="9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SmartRisk provides an intelligent, efficient solution for detecting insider threats. By analyzing employee behavior patterns and generating real-time risk predictions, it helps organizations strengthen cybersecurity posture and reduce internal security risks — before they become incidents.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467496"/>
            <a:ext cx="3927277" cy="792882"/>
          </a:xfrm>
          <a:prstGeom prst="roundRect">
            <a:avLst>
              <a:gd name="adj" fmla="val 6454"/>
            </a:avLst>
          </a:prstGeom>
          <a:solidFill>
            <a:srgbClr val="F8ECD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34" y="2646462"/>
            <a:ext cx="152251" cy="1218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2001" y="2592139"/>
            <a:ext cx="3409578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SmartRisk demonstrates that accessible ML tools can deliver enterprise-grade insider threat detection without proprietary infrastructure.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25367" y="1148804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Roadmap Ahead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25367" y="1456879"/>
            <a:ext cx="274067" cy="274067"/>
          </a:xfrm>
          <a:prstGeom prst="roundRect">
            <a:avLst>
              <a:gd name="adj" fmla="val 18670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04061" y="1498699"/>
            <a:ext cx="354858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Deep Learning Detection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104061" y="1793677"/>
            <a:ext cx="354858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LSTM and neural network models for temporal behavior analysis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25367" y="2365400"/>
            <a:ext cx="274067" cy="274067"/>
          </a:xfrm>
          <a:prstGeom prst="roundRect">
            <a:avLst>
              <a:gd name="adj" fmla="val 18670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04061" y="2407221"/>
            <a:ext cx="354858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SIEM Integration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104061" y="2702198"/>
            <a:ext cx="354858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with Splunk, QRadar, and other enterprise platforms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25367" y="3092723"/>
            <a:ext cx="274067" cy="274067"/>
          </a:xfrm>
          <a:prstGeom prst="roundRect">
            <a:avLst>
              <a:gd name="adj" fmla="val 18670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04061" y="3134544"/>
            <a:ext cx="354858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Explainable AI (XAI)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104061" y="3429521"/>
            <a:ext cx="354858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Transparent, auditable prediction reasoning for compliance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25367" y="3820046"/>
            <a:ext cx="274067" cy="274067"/>
          </a:xfrm>
          <a:prstGeom prst="roundRect">
            <a:avLst>
              <a:gd name="adj" fmla="val 18670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04061" y="3861867"/>
            <a:ext cx="354858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Cloud &amp; Alerting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104061" y="4156844"/>
            <a:ext cx="354858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deployment with automated email and SMS notifications</a:t>
            </a:r>
            <a:endParaRPr lang="en-US" sz="9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AD67AF-3D63-ACBD-5A26-C46E60EF10B0}"/>
              </a:ext>
            </a:extLst>
          </p:cNvPr>
          <p:cNvSpPr/>
          <p:nvPr/>
        </p:nvSpPr>
        <p:spPr>
          <a:xfrm>
            <a:off x="7695028" y="4656406"/>
            <a:ext cx="1448972" cy="487094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05FD3C-157F-221B-4E06-4548D66200CB}"/>
              </a:ext>
            </a:extLst>
          </p:cNvPr>
          <p:cNvSpPr/>
          <p:nvPr/>
        </p:nvSpPr>
        <p:spPr>
          <a:xfrm>
            <a:off x="7849772" y="4852690"/>
            <a:ext cx="1294228" cy="290810"/>
          </a:xfrm>
          <a:prstGeom prst="rect">
            <a:avLst/>
          </a:prstGeom>
          <a:solidFill>
            <a:srgbClr val="FDFE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E6AA87-9196-5DDC-57DE-F383B82A2D21}"/>
              </a:ext>
            </a:extLst>
          </p:cNvPr>
          <p:cNvSpPr txBox="1"/>
          <p:nvPr/>
        </p:nvSpPr>
        <p:spPr>
          <a:xfrm>
            <a:off x="1539240" y="2202418"/>
            <a:ext cx="5463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rial Black" panose="020B0A04020102020204" pitchFamily="34" charset="0"/>
              </a:rPr>
              <a:t>THANK  YOU</a:t>
            </a:r>
            <a:endParaRPr lang="en-IN" sz="36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152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714</Words>
  <Application>Microsoft Office PowerPoint</Application>
  <PresentationFormat>On-screen Show (16:9)</PresentationFormat>
  <Paragraphs>142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Bricolage Grotesque SemiBold</vt:lpstr>
      <vt:lpstr>Inter Bold</vt:lpstr>
      <vt:lpstr>Bricolage Grotesque Light</vt:lpstr>
      <vt:lpstr>Twemoji Mozilla</vt:lpstr>
      <vt:lpstr>Times New Roman</vt:lpstr>
      <vt:lpstr>Arial Black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Tejaswi Gali</dc:creator>
  <cp:lastModifiedBy>Tejaswi Gali</cp:lastModifiedBy>
  <cp:revision>2</cp:revision>
  <dcterms:created xsi:type="dcterms:W3CDTF">2026-07-24T07:59:26Z</dcterms:created>
  <dcterms:modified xsi:type="dcterms:W3CDTF">2026-07-24T08:53:33Z</dcterms:modified>
</cp:coreProperties>
</file>